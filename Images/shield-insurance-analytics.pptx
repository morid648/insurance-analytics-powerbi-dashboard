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7238" y="2187726"/>
            <a:ext cx="6289524" cy="39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571" spc="-100" kern="0" dirty="0">
                <a:solidFill>
                  <a:srgbClr val="0A0A0A"/>
                </a:solidFill>
              </a:rPr>
              <a:t>Shield Insurance Analytics</a:t>
            </a:r>
            <a:endParaRPr lang="en-US" sz="457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28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667" y="459619"/>
            <a:ext cx="8466667" cy="580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71" spc="-71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Insurance Analytics</a:t>
            </a:r>
            <a:endParaRPr lang="en-US" sz="4571" dirty="0"/>
          </a:p>
        </p:txBody>
      </p:sp>
      <p:sp>
        <p:nvSpPr>
          <p:cNvPr id="4" name="Text 1"/>
          <p:cNvSpPr/>
          <p:nvPr/>
        </p:nvSpPr>
        <p:spPr>
          <a:xfrm>
            <a:off x="338667" y="3586238"/>
            <a:ext cx="1536095" cy="35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type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Performance</a:t>
            </a:r>
            <a:endParaRPr lang="en-US" sz="1143" dirty="0"/>
          </a:p>
        </p:txBody>
      </p:sp>
      <p:sp>
        <p:nvSpPr>
          <p:cNvPr id="5" name="Text 2"/>
          <p:cNvSpPr/>
          <p:nvPr/>
        </p:nvSpPr>
        <p:spPr>
          <a:xfrm>
            <a:off x="2116667" y="3586238"/>
            <a:ext cx="1536095" cy="35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Report</a:t>
            </a:r>
            <a:endParaRPr lang="en-US" sz="1143" dirty="0"/>
          </a:p>
        </p:txBody>
      </p:sp>
      <p:sp>
        <p:nvSpPr>
          <p:cNvPr id="6" name="Text 3"/>
          <p:cNvSpPr/>
          <p:nvPr/>
        </p:nvSpPr>
        <p:spPr>
          <a:xfrm>
            <a:off x="3894667" y="3586238"/>
            <a:ext cx="1536095" cy="35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2022 - Apr 2023</a:t>
            </a:r>
            <a:endParaRPr lang="en-US" sz="114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32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39095"/>
            <a:ext cx="2443238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762" dirty="0"/>
          </a:p>
        </p:txBody>
      </p:sp>
      <p:sp>
        <p:nvSpPr>
          <p:cNvPr id="4" name="Text 1"/>
          <p:cNvSpPr/>
          <p:nvPr/>
        </p:nvSpPr>
        <p:spPr>
          <a:xfrm>
            <a:off x="6083905" y="139095"/>
            <a:ext cx="2806095" cy="11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A1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Insurance Analytics</a:t>
            </a:r>
            <a:endParaRPr lang="en-US" sz="762" dirty="0"/>
          </a:p>
        </p:txBody>
      </p:sp>
      <p:sp>
        <p:nvSpPr>
          <p:cNvPr id="5" name="Text 2"/>
          <p:cNvSpPr/>
          <p:nvPr/>
        </p:nvSpPr>
        <p:spPr>
          <a:xfrm>
            <a:off x="338667" y="538238"/>
            <a:ext cx="7976810" cy="275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pPr algn="l" indent="0" marL="0">
              <a:lnSpc>
                <a:spcPct val="90000"/>
              </a:lnSpc>
              <a:buNone/>
            </a:pPr>
            <a:endParaRPr lang="en-US" sz="3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pPr algn="l" indent="0" marL="0">
              <a:lnSpc>
                <a:spcPct val="90000"/>
              </a:lnSpc>
              <a:buNone/>
            </a:pPr>
            <a:endParaRPr lang="en-US" sz="3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</a:t>
            </a:r>
            <a:pPr algn="l" indent="0" marL="0">
              <a:lnSpc>
                <a:spcPct val="90000"/>
              </a:lnSpc>
              <a:buNone/>
            </a:pPr>
            <a:endParaRPr lang="en-US" sz="3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 analysis</a:t>
            </a:r>
            <a:pPr algn="l" indent="0" marL="0">
              <a:lnSpc>
                <a:spcPct val="90000"/>
              </a:lnSpc>
              <a:buNone/>
            </a:pPr>
            <a:endParaRPr lang="en-US" sz="3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risk and reward</a:t>
            </a:r>
            <a:pPr algn="l" indent="0" marL="0">
              <a:lnSpc>
                <a:spcPct val="90000"/>
              </a:lnSpc>
              <a:buNone/>
            </a:pPr>
            <a:endParaRPr lang="en-US" sz="3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opportunities</a:t>
            </a:r>
            <a:endParaRPr lang="en-US" sz="304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62857"/>
            <a:ext cx="1626810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38667" y="737810"/>
            <a:ext cx="4741333" cy="870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29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</a:t>
            </a:r>
            <a:br/>
            <a:pPr algn="l" indent="0" marL="0">
              <a:lnSpc>
                <a:spcPct val="100000"/>
              </a:lnSpc>
              <a:buNone/>
            </a:pPr>
            <a:r>
              <a:rPr lang="en-US" sz="34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pPr algn="l" indent="0" marL="0">
              <a:lnSpc>
                <a:spcPct val="100000"/>
              </a:lnSpc>
              <a:buNone/>
            </a:pPr>
            <a:r>
              <a:rPr lang="en-US" sz="3429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matters</a:t>
            </a:r>
            <a:endParaRPr lang="en-US" sz="3429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095" y="338667"/>
            <a:ext cx="3078238" cy="1397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095" y="1874762"/>
            <a:ext cx="3078238" cy="13970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095" y="3410857"/>
            <a:ext cx="3078238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454781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52" dirty="0"/>
          </a:p>
        </p:txBody>
      </p:sp>
      <p:pic>
        <p:nvPicPr>
          <p:cNvPr id="3" name="Image 0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"/>
          <a:srcRect l="0" r="0" t="20046" b="20046"/>
          <a:stretch/>
        </p:blipFill>
        <p:spPr>
          <a:xfrm>
            <a:off x="338667" y="1629833"/>
            <a:ext cx="8466667" cy="157238"/>
          </a:xfrm>
          <a:prstGeom prst="rect">
            <a:avLst/>
          </a:prstGeom>
        </p:spPr>
      </p:pic>
      <p:pic>
        <p:nvPicPr>
          <p:cNvPr id="4" name="Image 1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2"/>
          <a:srcRect l="0" r="0" t="20046" b="20046"/>
          <a:stretch/>
        </p:blipFill>
        <p:spPr>
          <a:xfrm>
            <a:off x="338667" y="2660952"/>
            <a:ext cx="8466667" cy="157238"/>
          </a:xfrm>
          <a:prstGeom prst="rect">
            <a:avLst/>
          </a:prstGeom>
        </p:spPr>
      </p:pic>
      <p:pic>
        <p:nvPicPr>
          <p:cNvPr id="5" name="Image 2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3"/>
          <a:srcRect l="0" r="0" t="20046" b="20046"/>
          <a:stretch/>
        </p:blipFill>
        <p:spPr>
          <a:xfrm>
            <a:off x="338667" y="3692071"/>
            <a:ext cx="8466667" cy="157238"/>
          </a:xfrm>
          <a:prstGeom prst="rect">
            <a:avLst/>
          </a:prstGeom>
        </p:spPr>
      </p:pic>
      <p:pic>
        <p:nvPicPr>
          <p:cNvPr id="6" name="Image 3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4"/>
          <a:srcRect l="0" r="0" t="20046" b="20046"/>
          <a:stretch/>
        </p:blipFill>
        <p:spPr>
          <a:xfrm>
            <a:off x="338667" y="4723190"/>
            <a:ext cx="8466667" cy="15723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38667" y="949476"/>
            <a:ext cx="5213048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13.2M INR</a:t>
            </a:r>
            <a:endParaRPr lang="en-US" sz="3810" dirty="0"/>
          </a:p>
        </p:txBody>
      </p:sp>
      <p:sp>
        <p:nvSpPr>
          <p:cNvPr id="8" name="Text 2"/>
          <p:cNvSpPr/>
          <p:nvPr/>
        </p:nvSpPr>
        <p:spPr>
          <a:xfrm>
            <a:off x="338667" y="1439333"/>
            <a:ext cx="521304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52" dirty="0"/>
          </a:p>
        </p:txBody>
      </p:sp>
      <p:sp>
        <p:nvSpPr>
          <p:cNvPr id="9" name="Text 3"/>
          <p:cNvSpPr/>
          <p:nvPr/>
        </p:nvSpPr>
        <p:spPr>
          <a:xfrm>
            <a:off x="5727095" y="1118810"/>
            <a:ext cx="300566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8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+103.34% vs last month</a:t>
            </a:r>
            <a:endParaRPr lang="en-US" sz="952" dirty="0"/>
          </a:p>
        </p:txBody>
      </p:sp>
      <p:sp>
        <p:nvSpPr>
          <p:cNvPr id="10" name="Text 4"/>
          <p:cNvSpPr/>
          <p:nvPr/>
        </p:nvSpPr>
        <p:spPr>
          <a:xfrm>
            <a:off x="338667" y="1983619"/>
            <a:ext cx="5213048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26,841</a:t>
            </a:r>
            <a:endParaRPr lang="en-US" sz="3810" dirty="0"/>
          </a:p>
        </p:txBody>
      </p:sp>
      <p:sp>
        <p:nvSpPr>
          <p:cNvPr id="11" name="Text 5"/>
          <p:cNvSpPr/>
          <p:nvPr/>
        </p:nvSpPr>
        <p:spPr>
          <a:xfrm>
            <a:off x="338667" y="2467429"/>
            <a:ext cx="521304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952" dirty="0"/>
          </a:p>
        </p:txBody>
      </p:sp>
      <p:sp>
        <p:nvSpPr>
          <p:cNvPr id="12" name="Text 6"/>
          <p:cNvSpPr/>
          <p:nvPr/>
        </p:nvSpPr>
        <p:spPr>
          <a:xfrm>
            <a:off x="5727095" y="2152952"/>
            <a:ext cx="300566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C54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-48.89% vs last month</a:t>
            </a:r>
            <a:endParaRPr lang="en-US" sz="952" dirty="0"/>
          </a:p>
        </p:txBody>
      </p:sp>
      <p:sp>
        <p:nvSpPr>
          <p:cNvPr id="13" name="Text 7"/>
          <p:cNvSpPr/>
          <p:nvPr/>
        </p:nvSpPr>
        <p:spPr>
          <a:xfrm>
            <a:off x="338667" y="3014738"/>
            <a:ext cx="5213048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5.2M INR</a:t>
            </a:r>
            <a:endParaRPr lang="en-US" sz="3810" dirty="0"/>
          </a:p>
        </p:txBody>
      </p:sp>
      <p:sp>
        <p:nvSpPr>
          <p:cNvPr id="14" name="Text 8"/>
          <p:cNvSpPr/>
          <p:nvPr/>
        </p:nvSpPr>
        <p:spPr>
          <a:xfrm>
            <a:off x="338667" y="3501571"/>
            <a:ext cx="521304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revenue growth</a:t>
            </a:r>
            <a:endParaRPr lang="en-US" sz="952" dirty="0"/>
          </a:p>
        </p:txBody>
      </p:sp>
      <p:sp>
        <p:nvSpPr>
          <p:cNvPr id="15" name="Text 9"/>
          <p:cNvSpPr/>
          <p:nvPr/>
        </p:nvSpPr>
        <p:spPr>
          <a:xfrm>
            <a:off x="5727095" y="3184071"/>
            <a:ext cx="300566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C54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-35.61% vs last month</a:t>
            </a:r>
            <a:endParaRPr lang="en-US" sz="952" dirty="0"/>
          </a:p>
        </p:txBody>
      </p:sp>
      <p:sp>
        <p:nvSpPr>
          <p:cNvPr id="16" name="Text 10"/>
          <p:cNvSpPr/>
          <p:nvPr/>
        </p:nvSpPr>
        <p:spPr>
          <a:xfrm>
            <a:off x="338667" y="4045857"/>
            <a:ext cx="5213048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38.9K INR</a:t>
            </a:r>
            <a:endParaRPr lang="en-US" sz="3810" dirty="0"/>
          </a:p>
        </p:txBody>
      </p:sp>
      <p:sp>
        <p:nvSpPr>
          <p:cNvPr id="17" name="Text 11"/>
          <p:cNvSpPr/>
          <p:nvPr/>
        </p:nvSpPr>
        <p:spPr>
          <a:xfrm>
            <a:off x="338667" y="4529667"/>
            <a:ext cx="521304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customer</a:t>
            </a:r>
            <a:endParaRPr lang="en-US" sz="952" dirty="0"/>
          </a:p>
        </p:txBody>
      </p:sp>
      <p:sp>
        <p:nvSpPr>
          <p:cNvPr id="18" name="Text 12"/>
          <p:cNvSpPr/>
          <p:nvPr/>
        </p:nvSpPr>
        <p:spPr>
          <a:xfrm>
            <a:off x="5727095" y="4215190"/>
            <a:ext cx="300566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8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+8.79% vs last month</a:t>
            </a:r>
            <a:endParaRPr lang="en-US" sz="9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326571" y="441476"/>
            <a:ext cx="269119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</a:t>
            </a:r>
            <a:endParaRPr lang="en-US" sz="952" dirty="0"/>
          </a:p>
        </p:txBody>
      </p:sp>
      <p:sp>
        <p:nvSpPr>
          <p:cNvPr id="4" name="Text 2"/>
          <p:cNvSpPr/>
          <p:nvPr/>
        </p:nvSpPr>
        <p:spPr>
          <a:xfrm>
            <a:off x="320524" y="647095"/>
            <a:ext cx="2697238" cy="870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volatility:</a:t>
            </a:r>
            <a:br/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drop in Apr 2023</a:t>
            </a:r>
            <a:endParaRPr lang="en-US" sz="2286" dirty="0"/>
          </a:p>
        </p:txBody>
      </p:sp>
      <p:sp>
        <p:nvSpPr>
          <p:cNvPr id="5" name="Text 3"/>
          <p:cNvSpPr/>
          <p:nvPr/>
        </p:nvSpPr>
        <p:spPr>
          <a:xfrm>
            <a:off x="320524" y="3779762"/>
            <a:ext cx="269119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peaking at ~260M INR in Mar 2023, revenue fell sharply to ~135M INR in Apr. Investigate policy renewals and acquisition pipeline immediately.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4100286" y="356810"/>
            <a:ext cx="4517571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24" spc="-12" kern="0" dirty="0">
                <a:solidFill>
                  <a:srgbClr val="0A0A0A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revenue: </a:t>
            </a:r>
            <a:pPr algn="l" indent="0" marL="0">
              <a:lnSpc>
                <a:spcPct val="90000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2022 - Apr 2023</a:t>
            </a:r>
            <a:endParaRPr lang="en-US" sz="1524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286" y="943429"/>
            <a:ext cx="5086048" cy="3864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286" y="943429"/>
            <a:ext cx="5086048" cy="3864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6571" y="441476"/>
            <a:ext cx="269119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52" dirty="0"/>
          </a:p>
        </p:txBody>
      </p:sp>
      <p:sp>
        <p:nvSpPr>
          <p:cNvPr id="5" name="Text 2"/>
          <p:cNvSpPr/>
          <p:nvPr/>
        </p:nvSpPr>
        <p:spPr>
          <a:xfrm>
            <a:off x="320524" y="647095"/>
            <a:ext cx="2697238" cy="580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141414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channel drives </a:t>
            </a:r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 of all revenue</a:t>
            </a:r>
            <a:endParaRPr lang="en-US" sz="2286" dirty="0"/>
          </a:p>
        </p:txBody>
      </p:sp>
      <p:sp>
        <p:nvSpPr>
          <p:cNvPr id="6" name="Text 3"/>
          <p:cNvSpPr/>
          <p:nvPr/>
        </p:nvSpPr>
        <p:spPr>
          <a:xfrm>
            <a:off x="4100286" y="356810"/>
            <a:ext cx="4517571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sales channel (INR millions)</a:t>
            </a:r>
            <a:endParaRPr lang="en-US" sz="1524" dirty="0"/>
          </a:p>
        </p:txBody>
      </p:sp>
      <p:sp>
        <p:nvSpPr>
          <p:cNvPr id="7" name="Text 4"/>
          <p:cNvSpPr/>
          <p:nvPr/>
        </p:nvSpPr>
        <p:spPr>
          <a:xfrm>
            <a:off x="320524" y="3779762"/>
            <a:ext cx="269119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risk: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3D3D3D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Offline-Agent at 55.67% means any disruption to the agent network directly impacts the majority of revenue.</a:t>
            </a:r>
            <a:endParaRPr lang="en-US" sz="9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326571" y="441476"/>
            <a:ext cx="269119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&amp; risk</a:t>
            </a:r>
            <a:endParaRPr lang="en-US" sz="952" dirty="0"/>
          </a:p>
        </p:txBody>
      </p:sp>
      <p:sp>
        <p:nvSpPr>
          <p:cNvPr id="4" name="Text 2"/>
          <p:cNvSpPr/>
          <p:nvPr/>
        </p:nvSpPr>
        <p:spPr>
          <a:xfrm>
            <a:off x="320524" y="647095"/>
            <a:ext cx="2697238" cy="116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141414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customers carry </a:t>
            </a:r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disproportionate</a:t>
            </a:r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141414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settlement risk</a:t>
            </a:r>
            <a:endParaRPr lang="en-US" sz="2286" dirty="0"/>
          </a:p>
        </p:txBody>
      </p:sp>
      <p:sp>
        <p:nvSpPr>
          <p:cNvPr id="5" name="Text 3"/>
          <p:cNvSpPr/>
          <p:nvPr/>
        </p:nvSpPr>
        <p:spPr>
          <a:xfrm>
            <a:off x="320524" y="3779762"/>
            <a:ext cx="2691190" cy="72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18-25 segment (6.87% of customers, ~2K) carries the lowest settlement exposure at 10M INR — making it the lowest-risk age group by a significant margin. Source: Age group dashboard customer pie chart.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4100286" y="356810"/>
            <a:ext cx="4517571" cy="23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settlement exposure by age group (INR M)</a:t>
            </a:r>
            <a:endParaRPr lang="en-US" sz="1524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286" y="943429"/>
            <a:ext cx="5086048" cy="3864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2618619"/>
            <a:ext cx="2933095" cy="77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</a:t>
            </a:r>
            <a:br/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338667" y="3556000"/>
            <a:ext cx="2745619" cy="29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our data analysis reveal critical risks and growth opportunities for Shield Insurance.</a:t>
            </a:r>
            <a:endParaRPr lang="en-US" sz="952" dirty="0"/>
          </a:p>
        </p:txBody>
      </p:sp>
      <p:sp>
        <p:nvSpPr>
          <p:cNvPr id="4" name="Shape 2"/>
          <p:cNvSpPr/>
          <p:nvPr/>
        </p:nvSpPr>
        <p:spPr>
          <a:xfrm>
            <a:off x="3616476" y="338667"/>
            <a:ext cx="2533952" cy="2152952"/>
          </a:xfrm>
          <a:prstGeom prst="roundRect">
            <a:avLst>
              <a:gd name="adj" fmla="val 4494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810000" y="532190"/>
            <a:ext cx="2146905" cy="176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9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</a:t>
            </a:r>
            <a:pPr algn="l" indent="0" marL="0">
              <a:lnSpc>
                <a:spcPts val="1829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</a:t>
            </a:r>
            <a:pPr algn="l" indent="0" marL="0">
              <a:lnSpc>
                <a:spcPts val="1829"/>
              </a:lnSpc>
              <a:buNone/>
            </a:pPr>
            <a:endParaRPr lang="en-US" sz="1524" dirty="0"/>
          </a:p>
          <a:p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Offline-Agent at 55.67% of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creates high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 if agent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is disrupted.</a:t>
            </a:r>
            <a:endParaRPr lang="en-US" sz="1524" dirty="0"/>
          </a:p>
        </p:txBody>
      </p:sp>
      <p:sp>
        <p:nvSpPr>
          <p:cNvPr id="6" name="Shape 4"/>
          <p:cNvSpPr/>
          <p:nvPr/>
        </p:nvSpPr>
        <p:spPr>
          <a:xfrm>
            <a:off x="6271381" y="338667"/>
            <a:ext cx="2533952" cy="2152952"/>
          </a:xfrm>
          <a:prstGeom prst="roundRect">
            <a:avLst>
              <a:gd name="adj" fmla="val 4494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64905" y="532190"/>
            <a:ext cx="2146905" cy="176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9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</a:t>
            </a:r>
            <a:pPr algn="l" indent="0" marL="0">
              <a:lnSpc>
                <a:spcPts val="1829"/>
              </a:lnSpc>
              <a:buNone/>
            </a:pPr>
            <a:endParaRPr lang="en-US" sz="1524" dirty="0"/>
          </a:p>
          <a:p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2023 revenue drop of -48%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 may signal early customer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requiring immediate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attention.</a:t>
            </a:r>
            <a:endParaRPr lang="en-US" sz="1524" dirty="0"/>
          </a:p>
        </p:txBody>
      </p:sp>
      <p:sp>
        <p:nvSpPr>
          <p:cNvPr id="8" name="Shape 6"/>
          <p:cNvSpPr/>
          <p:nvPr/>
        </p:nvSpPr>
        <p:spPr>
          <a:xfrm>
            <a:off x="3616476" y="2618619"/>
            <a:ext cx="2533952" cy="2189238"/>
          </a:xfrm>
          <a:prstGeom prst="roundRect">
            <a:avLst>
              <a:gd name="adj" fmla="val 442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10000" y="2812143"/>
            <a:ext cx="2146905" cy="1802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9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Exposure</a:t>
            </a:r>
            <a:pPr algn="l" indent="0" marL="0">
              <a:lnSpc>
                <a:spcPts val="1829"/>
              </a:lnSpc>
              <a:buNone/>
            </a:pPr>
            <a:endParaRPr lang="en-US" sz="1524" dirty="0"/>
          </a:p>
          <a:p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56+ age group carries 226M INR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settlement exposure — the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of any segment and a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financial risk.</a:t>
            </a:r>
            <a:endParaRPr lang="en-US" sz="1524" dirty="0"/>
          </a:p>
        </p:txBody>
      </p:sp>
      <p:sp>
        <p:nvSpPr>
          <p:cNvPr id="10" name="Shape 8"/>
          <p:cNvSpPr/>
          <p:nvPr/>
        </p:nvSpPr>
        <p:spPr>
          <a:xfrm>
            <a:off x="6271381" y="2618619"/>
            <a:ext cx="2533952" cy="2189238"/>
          </a:xfrm>
          <a:prstGeom prst="roundRect">
            <a:avLst>
              <a:gd name="adj" fmla="val 442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64905" y="2812143"/>
            <a:ext cx="2146905" cy="1802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9"/>
              </a:lnSpc>
              <a:buNone/>
            </a:pPr>
            <a:r>
              <a:rPr lang="en-US" sz="1524" spc="-1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Potential</a:t>
            </a:r>
            <a:pPr algn="l" indent="0" marL="0">
              <a:lnSpc>
                <a:spcPts val="1829"/>
              </a:lnSpc>
              <a:buNone/>
            </a:pPr>
            <a:endParaRPr lang="en-US" sz="1524" dirty="0"/>
          </a:p>
          <a:p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18-25 segment has the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settlement exposure (10M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INR), and revenue per customer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up +8.79% MoM — both </a:t>
            </a:r>
            <a:pPr algn="l" indent="0" marL="0">
              <a:lnSpc>
                <a:spcPts val="1829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0A0A0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pointing to growth potential.</a:t>
            </a:r>
            <a:endParaRPr lang="en-US" sz="152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29-l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667" y="338667"/>
            <a:ext cx="281819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52" dirty="0"/>
          </a:p>
        </p:txBody>
      </p:sp>
      <p:sp>
        <p:nvSpPr>
          <p:cNvPr id="4" name="Text 1"/>
          <p:cNvSpPr/>
          <p:nvPr/>
        </p:nvSpPr>
        <p:spPr>
          <a:xfrm>
            <a:off x="338667" y="616857"/>
            <a:ext cx="7656286" cy="39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actions to stabilize and grow</a:t>
            </a:r>
            <a:endParaRPr lang="en-US" sz="3048" dirty="0"/>
          </a:p>
        </p:txBody>
      </p:sp>
      <p:sp>
        <p:nvSpPr>
          <p:cNvPr id="5" name="Text 2"/>
          <p:cNvSpPr/>
          <p:nvPr/>
        </p:nvSpPr>
        <p:spPr>
          <a:xfrm>
            <a:off x="471714" y="2376714"/>
            <a:ext cx="1778000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revenue drop</a:t>
            </a:r>
            <a:endParaRPr lang="en-US" sz="1143" dirty="0"/>
          </a:p>
        </p:txBody>
      </p:sp>
      <p:sp>
        <p:nvSpPr>
          <p:cNvPr id="6" name="Text 3"/>
          <p:cNvSpPr/>
          <p:nvPr/>
        </p:nvSpPr>
        <p:spPr>
          <a:xfrm>
            <a:off x="465667" y="2781905"/>
            <a:ext cx="1784048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churn triggers and lapsed renewals behind the 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2023 revenue drop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Owner: Revenue Analytics Team.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2 weeks</a:t>
            </a:r>
            <a:endParaRPr lang="en-US" sz="952" dirty="0"/>
          </a:p>
        </p:txBody>
      </p:sp>
      <p:sp>
        <p:nvSpPr>
          <p:cNvPr id="7" name="Text 4"/>
          <p:cNvSpPr/>
          <p:nvPr/>
        </p:nvSpPr>
        <p:spPr>
          <a:xfrm>
            <a:off x="2618619" y="2376714"/>
            <a:ext cx="1778000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channel mix</a:t>
            </a:r>
            <a:endParaRPr lang="en-US" sz="1143" dirty="0"/>
          </a:p>
        </p:txBody>
      </p:sp>
      <p:sp>
        <p:nvSpPr>
          <p:cNvPr id="8" name="Text 5"/>
          <p:cNvSpPr/>
          <p:nvPr/>
        </p:nvSpPr>
        <p:spPr>
          <a:xfrm>
            <a:off x="2612571" y="2781905"/>
            <a:ext cx="1784048" cy="580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Website to 40% of revenue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Q3 2023. Owner: Sales Strategy.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End of Q2 2023</a:t>
            </a:r>
            <a:endParaRPr lang="en-US" sz="952" dirty="0"/>
          </a:p>
        </p:txBody>
      </p:sp>
      <p:sp>
        <p:nvSpPr>
          <p:cNvPr id="9" name="Text 6"/>
          <p:cNvSpPr/>
          <p:nvPr/>
        </p:nvSpPr>
        <p:spPr>
          <a:xfrm>
            <a:off x="4747381" y="2382762"/>
            <a:ext cx="1778000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Re-price 56+ policies</a:t>
            </a:r>
            <a:endParaRPr lang="en-US" sz="1143" dirty="0"/>
          </a:p>
        </p:txBody>
      </p:sp>
      <p:sp>
        <p:nvSpPr>
          <p:cNvPr id="10" name="Text 7"/>
          <p:cNvSpPr/>
          <p:nvPr/>
        </p:nvSpPr>
        <p:spPr>
          <a:xfrm>
            <a:off x="4741333" y="2781905"/>
            <a:ext cx="1784048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226M INR settlement exposure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adjust underwriting criteria for 56+ age group. Owner: Actuarial Team.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30 days</a:t>
            </a:r>
            <a:endParaRPr lang="en-US" sz="952" dirty="0"/>
          </a:p>
        </p:txBody>
      </p:sp>
      <p:sp>
        <p:nvSpPr>
          <p:cNvPr id="11" name="Text 8"/>
          <p:cNvSpPr/>
          <p:nvPr/>
        </p:nvSpPr>
        <p:spPr>
          <a:xfrm>
            <a:off x="6894286" y="2376714"/>
            <a:ext cx="1778000" cy="35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18–25 acquisition campaign</a:t>
            </a:r>
            <a:endParaRPr lang="en-US" sz="1143" dirty="0"/>
          </a:p>
        </p:txBody>
      </p:sp>
      <p:sp>
        <p:nvSpPr>
          <p:cNvPr id="12" name="Text 9"/>
          <p:cNvSpPr/>
          <p:nvPr/>
        </p:nvSpPr>
        <p:spPr>
          <a:xfrm>
            <a:off x="6894286" y="2824238"/>
            <a:ext cx="1784048" cy="580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digital-first campaign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targeting the low-risk 18–25 segment. Owner: Marketing.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575757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Q3 2023</a:t>
            </a:r>
            <a:endParaRPr lang="en-US" sz="9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2026-03-20T12:45:59Z</dcterms:created>
  <dcterms:modified xsi:type="dcterms:W3CDTF">2026-03-20T12:45:59Z</dcterms:modified>
</cp:coreProperties>
</file>